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301" r:id="rId8"/>
  </p:sldIdLst>
  <p:sldSz cx="9906000" cy="6858000" type="A4"/>
  <p:notesSz cx="7315200" cy="9601200"/>
  <p:embeddedFontLst>
    <p:embeddedFont>
      <p:font typeface="Meiryo" panose="020B0604030504040204" pitchFamily="34" charset="-128"/>
      <p:regular r:id="rId10"/>
      <p:bold r:id="rId11"/>
      <p:italic r:id="rId12"/>
      <p:boldItalic r:id="rId13"/>
    </p:embeddedFont>
    <p:embeddedFont>
      <p:font typeface="Aptos Light" panose="020B0004020202020204" pitchFamily="34" charset="0"/>
      <p:regular r:id="rId14"/>
      <p:italic r:id="rId15"/>
    </p:embeddedFont>
    <p:embeddedFont>
      <p:font typeface="Arimo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8">
          <p15:clr>
            <a:srgbClr val="A4A3A4"/>
          </p15:clr>
        </p15:guide>
        <p15:guide id="2" pos="2404">
          <p15:clr>
            <a:srgbClr val="A4A3A4"/>
          </p15:clr>
        </p15:guide>
        <p15:guide id="3" orient="horz" pos="3024">
          <p15:clr>
            <a:srgbClr val="A4A3A4"/>
          </p15:clr>
        </p15:guide>
        <p15:guide id="4" pos="2302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h/vI3fpPK5gub145yOFT93rOz7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B7CE970-9B8E-4FAD-9795-D9DAD77C033E}">
  <a:tblStyle styleId="{6B7CE970-9B8E-4FAD-9795-D9DAD77C033E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7F6"/>
          </a:solidFill>
        </a:fill>
      </a:tcStyle>
    </a:wholeTbl>
    <a:band1H>
      <a:tcTxStyle/>
      <a:tcStyle>
        <a:tcBdr/>
        <a:fill>
          <a:solidFill>
            <a:srgbClr val="CCCCE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CCE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2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B7DE6C5-CFAE-4B57-987E-C42D3653BCE8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5D2B3C4-5186-4EBF-8DEC-613B6184BF30}" styleName="Table_2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TxStyle/>
      <a:tcStyle>
        <a:tcBdr/>
        <a:fill>
          <a:solidFill>
            <a:srgbClr val="CAECDD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ECDD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26" autoAdjust="0"/>
    <p:restoredTop sz="94660"/>
  </p:normalViewPr>
  <p:slideViewPr>
    <p:cSldViewPr snapToGrid="0">
      <p:cViewPr varScale="1">
        <p:scale>
          <a:sx n="64" d="100"/>
          <a:sy n="64" d="100"/>
        </p:scale>
        <p:origin x="1440" y="7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18"/>
        <p:guide pos="2404"/>
        <p:guide orient="horz" pos="3024"/>
        <p:guide pos="230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59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57" Type="http://customschemas.google.com/relationships/presentationmetadata" Target="metadata"/><Relationship Id="rId61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2" y="164563"/>
            <a:ext cx="6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55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2pPr>
            <a:lvl3pPr marR="0" lvl="2" algn="ctr" rtl="0">
              <a:spcBef>
                <a:spcPts val="55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3pPr>
            <a:lvl4pPr marR="0" lvl="3" algn="ctr" rtl="0">
              <a:spcBef>
                <a:spcPts val="55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4pPr>
            <a:lvl5pPr marR="0" lvl="4" algn="ctr" rtl="0">
              <a:spcBef>
                <a:spcPts val="55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7279149" y="164563"/>
            <a:ext cx="6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r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55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2pPr>
            <a:lvl3pPr marR="0" lvl="2" algn="ctr" rtl="0">
              <a:spcBef>
                <a:spcPts val="55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3pPr>
            <a:lvl4pPr marR="0" lvl="3" algn="ctr" rtl="0">
              <a:spcBef>
                <a:spcPts val="55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4pPr>
            <a:lvl5pPr marR="0" lvl="4" algn="ctr" rtl="0">
              <a:spcBef>
                <a:spcPts val="55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76325" y="733425"/>
            <a:ext cx="5208588" cy="3605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81468" y="6156716"/>
            <a:ext cx="2587247" cy="1144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2" y="9450786"/>
            <a:ext cx="6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55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2pPr>
            <a:lvl3pPr marR="0" lvl="2" algn="ctr" rtl="0">
              <a:spcBef>
                <a:spcPts val="55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3pPr>
            <a:lvl4pPr marR="0" lvl="3" algn="ctr" rtl="0">
              <a:spcBef>
                <a:spcPts val="55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4pPr>
            <a:lvl5pPr marR="0" lvl="4" algn="ctr" rtl="0">
              <a:spcBef>
                <a:spcPts val="55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7043572" y="9450786"/>
            <a:ext cx="23564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76325" y="733425"/>
            <a:ext cx="5208588" cy="3605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6" name="Google Shape;146;p1:notes"/>
          <p:cNvSpPr txBox="1">
            <a:spLocks noGrp="1"/>
          </p:cNvSpPr>
          <p:nvPr>
            <p:ph type="body" idx="1"/>
          </p:nvPr>
        </p:nvSpPr>
        <p:spPr>
          <a:xfrm>
            <a:off x="981468" y="6636847"/>
            <a:ext cx="6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:notes"/>
          <p:cNvSpPr txBox="1">
            <a:spLocks noGrp="1"/>
          </p:cNvSpPr>
          <p:nvPr>
            <p:ph type="sldNum" idx="12"/>
          </p:nvPr>
        </p:nvSpPr>
        <p:spPr>
          <a:xfrm>
            <a:off x="7165400" y="9450786"/>
            <a:ext cx="11381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76325" y="733425"/>
            <a:ext cx="5208588" cy="3605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3" name="Google Shape;153;p2:notes"/>
          <p:cNvSpPr txBox="1">
            <a:spLocks noGrp="1"/>
          </p:cNvSpPr>
          <p:nvPr>
            <p:ph type="body" idx="1"/>
          </p:nvPr>
        </p:nvSpPr>
        <p:spPr>
          <a:xfrm>
            <a:off x="981468" y="6636847"/>
            <a:ext cx="6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:notes"/>
          <p:cNvSpPr txBox="1">
            <a:spLocks noGrp="1"/>
          </p:cNvSpPr>
          <p:nvPr>
            <p:ph type="sldNum" idx="12"/>
          </p:nvPr>
        </p:nvSpPr>
        <p:spPr>
          <a:xfrm>
            <a:off x="7165400" y="9450786"/>
            <a:ext cx="11381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 txBox="1">
            <a:spLocks noGrp="1"/>
          </p:cNvSpPr>
          <p:nvPr>
            <p:ph type="body" idx="1"/>
          </p:nvPr>
        </p:nvSpPr>
        <p:spPr>
          <a:xfrm>
            <a:off x="981468" y="6156716"/>
            <a:ext cx="2587247" cy="114492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76325" y="733425"/>
            <a:ext cx="5208588" cy="3605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>
            <a:spLocks noGrp="1"/>
          </p:cNvSpPr>
          <p:nvPr>
            <p:ph type="body" idx="1"/>
          </p:nvPr>
        </p:nvSpPr>
        <p:spPr>
          <a:xfrm>
            <a:off x="981468" y="6156716"/>
            <a:ext cx="2587247" cy="114492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76325" y="733425"/>
            <a:ext cx="5208588" cy="3605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>
            <a:spLocks noGrp="1"/>
          </p:cNvSpPr>
          <p:nvPr>
            <p:ph type="body" idx="1"/>
          </p:nvPr>
        </p:nvSpPr>
        <p:spPr>
          <a:xfrm>
            <a:off x="981468" y="6156716"/>
            <a:ext cx="2587247" cy="114492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76325" y="733425"/>
            <a:ext cx="5208588" cy="3605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3_Title Onl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タイトル スライド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8" descr="PPT-1b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524625"/>
            <a:ext cx="94900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8"/>
          <p:cNvSpPr/>
          <p:nvPr/>
        </p:nvSpPr>
        <p:spPr>
          <a:xfrm>
            <a:off x="6854825" y="6569075"/>
            <a:ext cx="2579688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© Fuji Electric Co., Ltd. All rights reserved.</a:t>
            </a:r>
            <a:endParaRPr/>
          </a:p>
        </p:txBody>
      </p:sp>
      <p:sp>
        <p:nvSpPr>
          <p:cNvPr id="20" name="Google Shape;20;p48"/>
          <p:cNvSpPr txBox="1"/>
          <p:nvPr/>
        </p:nvSpPr>
        <p:spPr>
          <a:xfrm>
            <a:off x="57150" y="6559550"/>
            <a:ext cx="309562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700" tIns="11300" rIns="37700" bIns="113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Fuji Electric (Malaysia) Sdn. Bhd.</a:t>
            </a:r>
            <a:endParaRPr/>
          </a:p>
        </p:txBody>
      </p:sp>
      <p:pic>
        <p:nvPicPr>
          <p:cNvPr id="21" name="Google Shape;21;p48" descr="3BK05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05750" y="115888"/>
            <a:ext cx="1868488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8"/>
          <p:cNvSpPr txBox="1">
            <a:spLocks noGrp="1"/>
          </p:cNvSpPr>
          <p:nvPr>
            <p:ph type="sldNum" idx="12"/>
          </p:nvPr>
        </p:nvSpPr>
        <p:spPr>
          <a:xfrm>
            <a:off x="9345613" y="6524625"/>
            <a:ext cx="57626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9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5" name="Google Shape;25;p49"/>
          <p:cNvSpPr txBox="1"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6" name="Google Shape;26;p49"/>
          <p:cNvSpPr txBox="1">
            <a:spLocks noGrp="1"/>
          </p:cNvSpPr>
          <p:nvPr>
            <p:ph type="sldNum" idx="12"/>
          </p:nvPr>
        </p:nvSpPr>
        <p:spPr>
          <a:xfrm>
            <a:off x="9345613" y="6524625"/>
            <a:ext cx="57626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0"/>
          <p:cNvSpPr txBox="1"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9" name="Google Shape;29;p50"/>
          <p:cNvSpPr txBox="1"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0" name="Google Shape;30;p50"/>
          <p:cNvSpPr txBox="1">
            <a:spLocks noGrp="1"/>
          </p:cNvSpPr>
          <p:nvPr>
            <p:ph type="sldNum" idx="12"/>
          </p:nvPr>
        </p:nvSpPr>
        <p:spPr>
          <a:xfrm>
            <a:off x="9345613" y="6524625"/>
            <a:ext cx="57626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1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Google Shape;33;p51"/>
          <p:cNvSpPr txBox="1">
            <a:spLocks noGrp="1"/>
          </p:cNvSpPr>
          <p:nvPr>
            <p:ph type="body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51"/>
          <p:cNvSpPr txBox="1">
            <a:spLocks noGrp="1"/>
          </p:cNvSpPr>
          <p:nvPr>
            <p:ph type="body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5" name="Google Shape;35;p51"/>
          <p:cNvSpPr txBox="1">
            <a:spLocks noGrp="1"/>
          </p:cNvSpPr>
          <p:nvPr>
            <p:ph type="sldNum" idx="12"/>
          </p:nvPr>
        </p:nvSpPr>
        <p:spPr>
          <a:xfrm>
            <a:off x="9345613" y="6524625"/>
            <a:ext cx="57626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2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8" name="Google Shape;38;p52"/>
          <p:cNvSpPr txBox="1"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9" name="Google Shape;39;p52"/>
          <p:cNvSpPr txBox="1">
            <a:spLocks noGrp="1"/>
          </p:cNvSpPr>
          <p:nvPr>
            <p:ph type="body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0" name="Google Shape;40;p52"/>
          <p:cNvSpPr txBox="1">
            <a:spLocks noGrp="1"/>
          </p:cNvSpPr>
          <p:nvPr>
            <p:ph type="body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1" name="Google Shape;41;p52"/>
          <p:cNvSpPr txBox="1">
            <a:spLocks noGrp="1"/>
          </p:cNvSpPr>
          <p:nvPr>
            <p:ph type="body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2" name="Google Shape;42;p52"/>
          <p:cNvSpPr txBox="1">
            <a:spLocks noGrp="1"/>
          </p:cNvSpPr>
          <p:nvPr>
            <p:ph type="sldNum" idx="12"/>
          </p:nvPr>
        </p:nvSpPr>
        <p:spPr>
          <a:xfrm>
            <a:off x="9345613" y="6524625"/>
            <a:ext cx="57626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3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5" name="Google Shape;45;p53"/>
          <p:cNvSpPr txBox="1">
            <a:spLocks noGrp="1"/>
          </p:cNvSpPr>
          <p:nvPr>
            <p:ph type="sldNum" idx="12"/>
          </p:nvPr>
        </p:nvSpPr>
        <p:spPr>
          <a:xfrm>
            <a:off x="9345613" y="6524625"/>
            <a:ext cx="57626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4"/>
          <p:cNvSpPr txBox="1">
            <a:spLocks noGrp="1"/>
          </p:cNvSpPr>
          <p:nvPr>
            <p:ph type="sldNum" idx="12"/>
          </p:nvPr>
        </p:nvSpPr>
        <p:spPr>
          <a:xfrm>
            <a:off x="9345613" y="6524625"/>
            <a:ext cx="57626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&#10;コンテンツ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5"/>
          <p:cNvSpPr txBox="1"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0" name="Google Shape;50;p55"/>
          <p:cNvSpPr txBox="1">
            <a:spLocks noGrp="1"/>
          </p:cNvSpPr>
          <p:nvPr>
            <p:ph type="body"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1" name="Google Shape;51;p55"/>
          <p:cNvSpPr txBox="1">
            <a:spLocks noGrp="1"/>
          </p:cNvSpPr>
          <p:nvPr>
            <p:ph type="body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2" name="Google Shape;52;p55"/>
          <p:cNvSpPr txBox="1">
            <a:spLocks noGrp="1"/>
          </p:cNvSpPr>
          <p:nvPr>
            <p:ph type="sldNum" idx="12"/>
          </p:nvPr>
        </p:nvSpPr>
        <p:spPr>
          <a:xfrm>
            <a:off x="9345613" y="6524625"/>
            <a:ext cx="57626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 type="picTx">
  <p:cSld name="PICTURE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6"/>
          <p:cNvSpPr txBox="1"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56"/>
          <p:cNvSpPr>
            <a:spLocks noGrp="1"/>
          </p:cNvSpPr>
          <p:nvPr>
            <p:ph type="pic" idx="2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56"/>
          <p:cNvSpPr txBox="1">
            <a:spLocks noGrp="1"/>
          </p:cNvSpPr>
          <p:nvPr>
            <p:ph type="body" idx="1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7" name="Google Shape;57;p56"/>
          <p:cNvSpPr txBox="1">
            <a:spLocks noGrp="1"/>
          </p:cNvSpPr>
          <p:nvPr>
            <p:ph type="sldNum" idx="12"/>
          </p:nvPr>
        </p:nvSpPr>
        <p:spPr>
          <a:xfrm>
            <a:off x="9345613" y="6524625"/>
            <a:ext cx="57626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&#10;縦書きテキスト" type="vertTx">
  <p:cSld name="VERTICAL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7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57"/>
          <p:cNvSpPr txBox="1">
            <a:spLocks noGrp="1"/>
          </p:cNvSpPr>
          <p:nvPr>
            <p:ph type="body" idx="1"/>
          </p:nvPr>
        </p:nvSpPr>
        <p:spPr>
          <a:xfrm rot="5400000">
            <a:off x="2690019" y="-594518"/>
            <a:ext cx="4525963" cy="89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1" name="Google Shape;61;p57"/>
          <p:cNvSpPr txBox="1">
            <a:spLocks noGrp="1"/>
          </p:cNvSpPr>
          <p:nvPr>
            <p:ph type="sldNum" idx="12"/>
          </p:nvPr>
        </p:nvSpPr>
        <p:spPr>
          <a:xfrm>
            <a:off x="9345613" y="6524625"/>
            <a:ext cx="57626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8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4" name="Google Shape;64;p58"/>
          <p:cNvSpPr txBox="1">
            <a:spLocks noGrp="1"/>
          </p:cNvSpPr>
          <p:nvPr>
            <p:ph type="sldNum" idx="12"/>
          </p:nvPr>
        </p:nvSpPr>
        <p:spPr>
          <a:xfrm>
            <a:off x="9345613" y="6524625"/>
            <a:ext cx="57626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縦書きタイトルと&#10;縦書きテキスト" type="vertTitleAndTx">
  <p:cSld name="VERTICAL_TITLE_AND_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9"/>
          <p:cNvSpPr txBox="1">
            <a:spLocks noGrp="1"/>
          </p:cNvSpPr>
          <p:nvPr>
            <p:ph type="title"/>
          </p:nvPr>
        </p:nvSpPr>
        <p:spPr>
          <a:xfrm rot="5400000">
            <a:off x="5370513" y="2085976"/>
            <a:ext cx="5851525" cy="222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7" name="Google Shape;67;p59"/>
          <p:cNvSpPr txBox="1">
            <a:spLocks noGrp="1"/>
          </p:cNvSpPr>
          <p:nvPr>
            <p:ph type="body" idx="1"/>
          </p:nvPr>
        </p:nvSpPr>
        <p:spPr>
          <a:xfrm rot="5400000">
            <a:off x="836613" y="-66674"/>
            <a:ext cx="5851525" cy="6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59"/>
          <p:cNvSpPr txBox="1">
            <a:spLocks noGrp="1"/>
          </p:cNvSpPr>
          <p:nvPr>
            <p:ph type="sldNum" idx="12"/>
          </p:nvPr>
        </p:nvSpPr>
        <p:spPr>
          <a:xfrm>
            <a:off x="9345613" y="6524625"/>
            <a:ext cx="57626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1"/>
          <p:cNvSpPr txBox="1"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1"/>
          <p:cNvSpPr txBox="1"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61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1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1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2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2"/>
          <p:cNvSpPr txBox="1"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62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62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62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3"/>
          <p:cNvSpPr txBox="1"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63"/>
          <p:cNvSpPr txBox="1"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63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63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63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4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64"/>
          <p:cNvSpPr txBox="1">
            <a:spLocks noGrp="1"/>
          </p:cNvSpPr>
          <p:nvPr>
            <p:ph type="body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6" name="Google Shape;96;p64"/>
          <p:cNvSpPr txBox="1">
            <a:spLocks noGrp="1"/>
          </p:cNvSpPr>
          <p:nvPr>
            <p:ph type="body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7" name="Google Shape;97;p64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64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4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5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65"/>
          <p:cNvSpPr txBox="1"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3" name="Google Shape;103;p65"/>
          <p:cNvSpPr txBox="1">
            <a:spLocks noGrp="1"/>
          </p:cNvSpPr>
          <p:nvPr>
            <p:ph type="body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4" name="Google Shape;104;p65"/>
          <p:cNvSpPr txBox="1">
            <a:spLocks noGrp="1"/>
          </p:cNvSpPr>
          <p:nvPr>
            <p:ph type="body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5" name="Google Shape;105;p65"/>
          <p:cNvSpPr txBox="1">
            <a:spLocks noGrp="1"/>
          </p:cNvSpPr>
          <p:nvPr>
            <p:ph type="body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6" name="Google Shape;106;p65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65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65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6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66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66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66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7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67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67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8"/>
          <p:cNvSpPr txBox="1"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68"/>
          <p:cNvSpPr txBox="1">
            <a:spLocks noGrp="1"/>
          </p:cNvSpPr>
          <p:nvPr>
            <p:ph type="body"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1" name="Google Shape;121;p68"/>
          <p:cNvSpPr txBox="1">
            <a:spLocks noGrp="1"/>
          </p:cNvSpPr>
          <p:nvPr>
            <p:ph type="body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2" name="Google Shape;122;p68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68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68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9"/>
          <p:cNvSpPr txBox="1"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69"/>
          <p:cNvSpPr>
            <a:spLocks noGrp="1"/>
          </p:cNvSpPr>
          <p:nvPr>
            <p:ph type="pic" idx="2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69"/>
          <p:cNvSpPr txBox="1">
            <a:spLocks noGrp="1"/>
          </p:cNvSpPr>
          <p:nvPr>
            <p:ph type="body" idx="1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9" name="Google Shape;129;p69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69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69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0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70"/>
          <p:cNvSpPr txBox="1">
            <a:spLocks noGrp="1"/>
          </p:cNvSpPr>
          <p:nvPr>
            <p:ph type="body" idx="1"/>
          </p:nvPr>
        </p:nvSpPr>
        <p:spPr>
          <a:xfrm rot="5400000">
            <a:off x="2690019" y="-594518"/>
            <a:ext cx="4525963" cy="89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70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70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70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1"/>
          <p:cNvSpPr txBox="1">
            <a:spLocks noGrp="1"/>
          </p:cNvSpPr>
          <p:nvPr>
            <p:ph type="title"/>
          </p:nvPr>
        </p:nvSpPr>
        <p:spPr>
          <a:xfrm rot="5400000">
            <a:off x="5370513" y="2085976"/>
            <a:ext cx="5851525" cy="222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71"/>
          <p:cNvSpPr txBox="1">
            <a:spLocks noGrp="1"/>
          </p:cNvSpPr>
          <p:nvPr>
            <p:ph type="body" idx="1"/>
          </p:nvPr>
        </p:nvSpPr>
        <p:spPr>
          <a:xfrm rot="5400000">
            <a:off x="836613" y="-66674"/>
            <a:ext cx="5851525" cy="6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71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71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71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>
            <a:spLocks noGrp="1"/>
          </p:cNvSpPr>
          <p:nvPr>
            <p:ph type="sldNum" idx="12"/>
          </p:nvPr>
        </p:nvSpPr>
        <p:spPr>
          <a:xfrm>
            <a:off x="9345613" y="6524625"/>
            <a:ext cx="57626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46" descr="PPT-1b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0" y="6524625"/>
            <a:ext cx="94900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46" descr="PPT-1c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0" y="692150"/>
            <a:ext cx="9906000" cy="7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46"/>
          <p:cNvSpPr/>
          <p:nvPr/>
        </p:nvSpPr>
        <p:spPr>
          <a:xfrm>
            <a:off x="6854825" y="6569075"/>
            <a:ext cx="2579688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© Fuji Electric Co., Ltd. All rights reserved.</a:t>
            </a:r>
            <a:endParaRPr/>
          </a:p>
        </p:txBody>
      </p:sp>
      <p:sp>
        <p:nvSpPr>
          <p:cNvPr id="14" name="Google Shape;14;p46"/>
          <p:cNvSpPr txBox="1"/>
          <p:nvPr/>
        </p:nvSpPr>
        <p:spPr>
          <a:xfrm>
            <a:off x="57150" y="6559550"/>
            <a:ext cx="309562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700" tIns="11300" rIns="37700" bIns="113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Fuji Electric (Malaysia) Sdn. Bhd.</a:t>
            </a:r>
            <a:endParaRPr/>
          </a:p>
        </p:txBody>
      </p:sp>
      <p:pic>
        <p:nvPicPr>
          <p:cNvPr id="15" name="Google Shape;15;p46" descr="3BK05e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905750" y="115888"/>
            <a:ext cx="1868488" cy="4667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wipe dir="r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0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1" name="Google Shape;71;p60"/>
          <p:cNvSpPr txBox="1"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60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S PGothic"/>
                <a:ea typeface="MS PGothic"/>
                <a:cs typeface="MS PGothic"/>
                <a:sym typeface="MS PGothic"/>
              </a:defRPr>
            </a:lvl1pPr>
            <a:lvl2pPr marR="0" lvl="1" algn="ctr" rtl="0">
              <a:spcBef>
                <a:spcPts val="55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2pPr>
            <a:lvl3pPr marR="0" lvl="2" algn="ctr" rtl="0">
              <a:spcBef>
                <a:spcPts val="55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3pPr>
            <a:lvl4pPr marR="0" lvl="3" algn="ctr" rtl="0">
              <a:spcBef>
                <a:spcPts val="55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4pPr>
            <a:lvl5pPr marR="0" lvl="4" algn="ctr" rtl="0">
              <a:spcBef>
                <a:spcPts val="55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9pPr>
          </a:lstStyle>
          <a:p>
            <a:endParaRPr/>
          </a:p>
        </p:txBody>
      </p:sp>
      <p:sp>
        <p:nvSpPr>
          <p:cNvPr id="73" name="Google Shape;73;p60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S PGothic"/>
                <a:ea typeface="MS PGothic"/>
                <a:cs typeface="MS PGothic"/>
                <a:sym typeface="MS PGothic"/>
              </a:defRPr>
            </a:lvl1pPr>
            <a:lvl2pPr marR="0" lvl="1" algn="ctr" rtl="0">
              <a:spcBef>
                <a:spcPts val="55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2pPr>
            <a:lvl3pPr marR="0" lvl="2" algn="ctr" rtl="0">
              <a:spcBef>
                <a:spcPts val="55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3pPr>
            <a:lvl4pPr marR="0" lvl="3" algn="ctr" rtl="0">
              <a:spcBef>
                <a:spcPts val="55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4pPr>
            <a:lvl5pPr marR="0" lvl="4" algn="ctr" rtl="0">
              <a:spcBef>
                <a:spcPts val="55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9pPr>
          </a:lstStyle>
          <a:p>
            <a:endParaRPr/>
          </a:p>
        </p:txBody>
      </p:sp>
      <p:sp>
        <p:nvSpPr>
          <p:cNvPr id="74" name="Google Shape;74;p60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S PGothic"/>
                <a:ea typeface="MS PGothic"/>
                <a:cs typeface="MS PGothic"/>
                <a:sym typeface="MS PGothic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S PGothic"/>
                <a:ea typeface="MS PGothic"/>
                <a:cs typeface="MS PGothic"/>
                <a:sym typeface="MS PGothic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S PGothic"/>
                <a:ea typeface="MS PGothic"/>
                <a:cs typeface="MS PGothic"/>
                <a:sym typeface="MS PGothic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S PGothic"/>
                <a:ea typeface="MS PGothic"/>
                <a:cs typeface="MS PGothic"/>
                <a:sym typeface="MS PGothic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S PGothic"/>
                <a:ea typeface="MS PGothic"/>
                <a:cs typeface="MS PGothic"/>
                <a:sym typeface="MS PGothic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S PGothic"/>
                <a:ea typeface="MS PGothic"/>
                <a:cs typeface="MS PGothic"/>
                <a:sym typeface="MS PGothic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S PGothic"/>
                <a:ea typeface="MS PGothic"/>
                <a:cs typeface="MS PGothic"/>
                <a:sym typeface="MS PGothic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S PGothic"/>
                <a:ea typeface="MS PGothic"/>
                <a:cs typeface="MS PGothic"/>
                <a:sym typeface="MS PGothic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S PGothic"/>
                <a:ea typeface="MS PGothic"/>
                <a:cs typeface="MS PGothic"/>
                <a:sym typeface="MS P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"/>
          <p:cNvSpPr txBox="1"/>
          <p:nvPr/>
        </p:nvSpPr>
        <p:spPr>
          <a:xfrm>
            <a:off x="0" y="1123271"/>
            <a:ext cx="9905999" cy="3394709"/>
          </a:xfrm>
          <a:prstGeom prst="rect">
            <a:avLst/>
          </a:prstGeom>
          <a:noFill/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Industrial Training Presentation</a:t>
            </a:r>
          </a:p>
          <a:p>
            <a:pPr lvl="0" algn="ctr"/>
            <a:br>
              <a:rPr lang="en-MY" sz="2400" dirty="0">
                <a:latin typeface="Aptos Light" panose="020F0502020204030204" pitchFamily="34" charset="0"/>
                <a:cs typeface="Aptos Serif" panose="020B0502040204020203" pitchFamily="18" charset="0"/>
              </a:rPr>
            </a:br>
            <a:r>
              <a:rPr lang="en-MY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Light" panose="020F0502020204030204" pitchFamily="34" charset="0"/>
                <a:cs typeface="Aptos Serif" panose="020B0502040204020203" pitchFamily="18" charset="0"/>
              </a:rPr>
              <a:t>Wafer 8” Production – Preventive and Maintenance </a:t>
            </a:r>
            <a:endParaRPr sz="2400" dirty="0">
              <a:latin typeface="Aptos Light" panose="020F0502020204030204" pitchFamily="34" charset="0"/>
              <a:cs typeface="Aptos Serif" panose="020B0502040204020203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"/>
          <p:cNvSpPr txBox="1"/>
          <p:nvPr/>
        </p:nvSpPr>
        <p:spPr>
          <a:xfrm>
            <a:off x="9345613" y="6524625"/>
            <a:ext cx="57626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</a:t>
            </a:fld>
            <a:endParaRPr sz="1600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137531-BA82-7961-AAF6-1035980D9180}"/>
              </a:ext>
            </a:extLst>
          </p:cNvPr>
          <p:cNvSpPr/>
          <p:nvPr/>
        </p:nvSpPr>
        <p:spPr>
          <a:xfrm>
            <a:off x="1319134" y="3183855"/>
            <a:ext cx="7674964" cy="266824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  <a:defRPr/>
            </a:pPr>
            <a:r>
              <a:rPr lang="en-MY" b="1" dirty="0"/>
              <a:t>Presenter Name 	: </a:t>
            </a:r>
            <a:r>
              <a:rPr lang="en-MY" dirty="0"/>
              <a:t>	LIM YU WEN</a:t>
            </a:r>
          </a:p>
          <a:p>
            <a:pPr>
              <a:lnSpc>
                <a:spcPct val="150000"/>
              </a:lnSpc>
              <a:defRPr/>
            </a:pPr>
            <a:r>
              <a:rPr lang="en-MY" b="1" dirty="0"/>
              <a:t>University		: </a:t>
            </a:r>
            <a:r>
              <a:rPr lang="en-MY" dirty="0"/>
              <a:t>	TUNKU ABDUL RAHMAN UNIVERSITY OF 					MANAGEMENT AND TECHNOLOGY (TARUMT)</a:t>
            </a:r>
          </a:p>
          <a:p>
            <a:pPr>
              <a:lnSpc>
                <a:spcPct val="150000"/>
              </a:lnSpc>
              <a:defRPr/>
            </a:pPr>
            <a:r>
              <a:rPr lang="en-MY" b="1" dirty="0"/>
              <a:t>Training Period 	: </a:t>
            </a:r>
            <a:r>
              <a:rPr lang="en-MY" dirty="0"/>
              <a:t>	27 OCTOBER 2025 – 16 JANUARY 2026 ( 12 WEEKS )</a:t>
            </a:r>
          </a:p>
          <a:p>
            <a:pPr>
              <a:lnSpc>
                <a:spcPct val="150000"/>
              </a:lnSpc>
              <a:defRPr/>
            </a:pPr>
            <a:r>
              <a:rPr lang="en-MY" b="1" dirty="0"/>
              <a:t>Department 	: </a:t>
            </a:r>
            <a:r>
              <a:rPr lang="en-MY" dirty="0"/>
              <a:t>	CVD AND DIFFUSION </a:t>
            </a:r>
          </a:p>
          <a:p>
            <a:pPr>
              <a:lnSpc>
                <a:spcPct val="150000"/>
              </a:lnSpc>
              <a:defRPr/>
            </a:pPr>
            <a:r>
              <a:rPr lang="en-MY" b="1" dirty="0"/>
              <a:t>Superior 		: </a:t>
            </a:r>
            <a:r>
              <a:rPr lang="en-MY" dirty="0"/>
              <a:t>	MR MUHAMAD AMIRUL NAZRIN </a:t>
            </a:r>
          </a:p>
          <a:p>
            <a:pPr>
              <a:lnSpc>
                <a:spcPct val="150000"/>
              </a:lnSpc>
              <a:defRPr/>
            </a:pPr>
            <a:r>
              <a:rPr lang="en-MY" b="1" dirty="0"/>
              <a:t>Lecturer 		: </a:t>
            </a:r>
            <a:r>
              <a:rPr lang="en-MY" dirty="0"/>
              <a:t>	MR TAN YONG LI</a:t>
            </a:r>
          </a:p>
          <a:p>
            <a:endParaRPr lang="en-US" dirty="0"/>
          </a:p>
        </p:txBody>
      </p:sp>
      <p:pic>
        <p:nvPicPr>
          <p:cNvPr id="1028" name="Picture 4" descr="Tunku Abdul Rahman University of Management and Technology">
            <a:extLst>
              <a:ext uri="{FF2B5EF4-FFF2-40B4-BE49-F238E27FC236}">
                <a16:creationId xmlns:a16="http://schemas.microsoft.com/office/drawing/2014/main" id="{D4A8DF3C-DC63-0BBD-7B7D-F16DF46E9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27" y="125158"/>
            <a:ext cx="2113613" cy="688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"/>
          <p:cNvSpPr txBox="1"/>
          <p:nvPr/>
        </p:nvSpPr>
        <p:spPr>
          <a:xfrm>
            <a:off x="9345613" y="6524625"/>
            <a:ext cx="57626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2</a:t>
            </a:fld>
            <a:endParaRPr sz="1600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-1094185" y="37415"/>
            <a:ext cx="604718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of Contents</a:t>
            </a:r>
            <a:endParaRPr/>
          </a:p>
        </p:txBody>
      </p:sp>
      <p:graphicFrame>
        <p:nvGraphicFramePr>
          <p:cNvPr id="158" name="Google Shape;158;p2"/>
          <p:cNvGraphicFramePr/>
          <p:nvPr>
            <p:extLst>
              <p:ext uri="{D42A27DB-BD31-4B8C-83A1-F6EECF244321}">
                <p14:modId xmlns:p14="http://schemas.microsoft.com/office/powerpoint/2010/main" val="2997302812"/>
              </p:ext>
            </p:extLst>
          </p:nvPr>
        </p:nvGraphicFramePr>
        <p:xfrm>
          <a:off x="1442237" y="1883042"/>
          <a:ext cx="7021525" cy="264132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702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1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/>
                        <a:t>1. </a:t>
                      </a:r>
                      <a:r>
                        <a:rPr lang="en-US" sz="2400" b="0" u="none" strike="noStrike" cap="none" dirty="0"/>
                        <a:t>Introduction of FEM</a:t>
                      </a:r>
                      <a:endParaRPr b="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/>
                        <a:t>2. </a:t>
                      </a:r>
                      <a:r>
                        <a:rPr lang="en-US" sz="2400" dirty="0"/>
                        <a:t>Job Scope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/>
                        <a:t>3. </a:t>
                      </a:r>
                      <a:r>
                        <a:rPr lang="en-US" sz="2400" dirty="0"/>
                        <a:t>Training Content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19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/>
                        <a:t>4. </a:t>
                      </a:r>
                      <a:r>
                        <a:rPr lang="en-US" sz="2400" dirty="0"/>
                        <a:t>Project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/>
                        <a:t>5. </a:t>
                      </a:r>
                      <a:r>
                        <a:rPr lang="en-US" sz="2400" dirty="0"/>
                        <a:t>Q&amp;A 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"/>
          <p:cNvSpPr txBox="1"/>
          <p:nvPr/>
        </p:nvSpPr>
        <p:spPr>
          <a:xfrm>
            <a:off x="1984397" y="92473"/>
            <a:ext cx="593720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3600"/>
            </a:pPr>
            <a:r>
              <a:rPr lang="en-MY" altLang="en-US" sz="3600" dirty="0">
                <a:latin typeface="Aptos" panose="020B0004020202020204" pitchFamily="34" charset="0"/>
              </a:rPr>
              <a:t>Fuji Electric Malaysia (FEM)</a:t>
            </a:r>
            <a:endParaRPr dirty="0">
              <a:latin typeface="Aptos" panose="020B0004020202020204" pitchFamily="34" charset="0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9345613" y="6524625"/>
            <a:ext cx="57626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3</a:t>
            </a:fld>
            <a:endParaRPr sz="1600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2" name="Picture 2" descr="Fuji Electric Malaysia">
            <a:extLst>
              <a:ext uri="{FF2B5EF4-FFF2-40B4-BE49-F238E27FC236}">
                <a16:creationId xmlns:a16="http://schemas.microsoft.com/office/drawing/2014/main" id="{27B277F5-7D08-174F-7536-7AD9DE3C4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88" y="1060450"/>
            <a:ext cx="7743825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8B8119-BB3F-CCC3-7870-E5E26C6A516B}"/>
              </a:ext>
            </a:extLst>
          </p:cNvPr>
          <p:cNvSpPr txBox="1"/>
          <p:nvPr/>
        </p:nvSpPr>
        <p:spPr>
          <a:xfrm>
            <a:off x="1243084" y="3477637"/>
            <a:ext cx="790091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Tx/>
              <a:buNone/>
              <a:defRPr/>
            </a:pPr>
            <a:r>
              <a:rPr lang="en-MY" sz="1600" b="1" dirty="0"/>
              <a:t>Incorporated 	: </a:t>
            </a:r>
            <a:r>
              <a:rPr lang="en-MY" sz="1600" dirty="0"/>
              <a:t>	February 1996</a:t>
            </a:r>
          </a:p>
          <a:p>
            <a:pPr marL="0" indent="0">
              <a:buFontTx/>
              <a:buNone/>
              <a:defRPr/>
            </a:pPr>
            <a:endParaRPr lang="en-MY" sz="1600" dirty="0"/>
          </a:p>
          <a:p>
            <a:pPr marL="0" indent="0">
              <a:buFontTx/>
              <a:buNone/>
              <a:defRPr/>
            </a:pPr>
            <a:r>
              <a:rPr lang="en-MY" sz="1600" b="1" dirty="0"/>
              <a:t>Initial Operations	: </a:t>
            </a:r>
            <a:r>
              <a:rPr lang="en-MY" sz="1600" dirty="0"/>
              <a:t>	Magnetic Disk Production</a:t>
            </a:r>
          </a:p>
          <a:p>
            <a:pPr marL="0" indent="0">
              <a:buFontTx/>
              <a:buNone/>
              <a:defRPr/>
            </a:pPr>
            <a:endParaRPr lang="en-MY" sz="1600" dirty="0"/>
          </a:p>
          <a:p>
            <a:pPr marL="0" indent="0">
              <a:buFontTx/>
              <a:buNone/>
              <a:defRPr/>
            </a:pPr>
            <a:r>
              <a:rPr lang="en-MY" sz="1600" b="1" dirty="0"/>
              <a:t>March 2008 	: </a:t>
            </a:r>
            <a:r>
              <a:rPr lang="en-MY" sz="1600" dirty="0"/>
              <a:t>	Establishment of Fuji Electric Semiconductor </a:t>
            </a:r>
            <a:r>
              <a:rPr lang="en-MY" sz="1600" b="1" dirty="0"/>
              <a:t>(Malaysia) </a:t>
            </a:r>
            <a:r>
              <a:rPr lang="en-MY" sz="1600" dirty="0"/>
              <a:t>		</a:t>
            </a:r>
            <a:r>
              <a:rPr lang="en-MY" sz="1600" dirty="0" err="1"/>
              <a:t>Sdn</a:t>
            </a:r>
            <a:r>
              <a:rPr lang="en-MY" sz="1600" dirty="0"/>
              <a:t>. Bhd. for IGBT module manufacturing</a:t>
            </a:r>
          </a:p>
          <a:p>
            <a:pPr marL="0" indent="0">
              <a:buFontTx/>
              <a:buNone/>
              <a:defRPr/>
            </a:pPr>
            <a:endParaRPr lang="en-MY" sz="1600" dirty="0"/>
          </a:p>
          <a:p>
            <a:pPr marL="0" indent="0">
              <a:buFontTx/>
              <a:buNone/>
              <a:defRPr/>
            </a:pPr>
            <a:r>
              <a:rPr lang="en-MY" sz="1600" b="1" dirty="0"/>
              <a:t>April 2015 	: </a:t>
            </a:r>
            <a:r>
              <a:rPr lang="en-MY" sz="1600" dirty="0"/>
              <a:t>	Magnetic disk and semiconductor businesses merged </a:t>
            </a:r>
            <a:r>
              <a:rPr lang="en-MY" sz="1600" b="1" dirty="0"/>
              <a:t>into </a:t>
            </a:r>
            <a:r>
              <a:rPr lang="en-MY" sz="1600" dirty="0"/>
              <a:t>			single entity</a:t>
            </a:r>
          </a:p>
          <a:p>
            <a:pPr marL="0" indent="0">
              <a:buFontTx/>
              <a:buNone/>
              <a:defRPr/>
            </a:pPr>
            <a:endParaRPr lang="en-MY" sz="1600" dirty="0"/>
          </a:p>
          <a:p>
            <a:pPr marL="0" indent="0">
              <a:buFontTx/>
              <a:buNone/>
              <a:defRPr/>
            </a:pPr>
            <a:r>
              <a:rPr lang="en-MY" sz="1600" b="1" dirty="0"/>
              <a:t>July 2021 </a:t>
            </a:r>
            <a:r>
              <a:rPr lang="en-MY" sz="1600" dirty="0"/>
              <a:t>	: 	Magnetic Media Business Division ceased operation</a:t>
            </a:r>
            <a:br>
              <a:rPr lang="en-MY" sz="1600" dirty="0"/>
            </a:br>
            <a:endParaRPr lang="en-MY" sz="1600" dirty="0"/>
          </a:p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"/>
          <p:cNvSpPr txBox="1"/>
          <p:nvPr/>
        </p:nvSpPr>
        <p:spPr>
          <a:xfrm>
            <a:off x="9345613" y="6524625"/>
            <a:ext cx="57626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4</a:t>
            </a:fld>
            <a:endParaRPr sz="1600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2E19CDC4-F8C9-9BBA-5410-957044CFE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7300"/>
            <a:ext cx="99060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"/>
          <p:cNvSpPr txBox="1"/>
          <p:nvPr/>
        </p:nvSpPr>
        <p:spPr>
          <a:xfrm>
            <a:off x="9345613" y="6524625"/>
            <a:ext cx="57626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5</a:t>
            </a:fld>
            <a:endParaRPr sz="1600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2528290"/>
      </p:ext>
    </p:extLst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</Words>
  <Application>Microsoft Office PowerPoint</Application>
  <PresentationFormat>A4 Paper (210x297 mm)</PresentationFormat>
  <Paragraphs>32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Arimo</vt:lpstr>
      <vt:lpstr>Meiryo</vt:lpstr>
      <vt:lpstr>Times New Roman</vt:lpstr>
      <vt:lpstr>Aptos Light</vt:lpstr>
      <vt:lpstr>ＭＳ Ｐゴシック</vt:lpstr>
      <vt:lpstr>Calibri</vt:lpstr>
      <vt:lpstr>Arial</vt:lpstr>
      <vt:lpstr>Aptos</vt:lpstr>
      <vt:lpstr>標準デザイン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Ady</dc:creator>
  <cp:lastModifiedBy>Lim　Yu　Wen</cp:lastModifiedBy>
  <cp:revision>1</cp:revision>
  <dcterms:created xsi:type="dcterms:W3CDTF">2113-01-01T00:00:00Z</dcterms:created>
  <dcterms:modified xsi:type="dcterms:W3CDTF">2025-11-25T09:29:54Z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C90AEDFD1CC546CCA7C9FF46EE8CDA51_12</vt:lpwstr>
  </property>
  <property fmtid="{D5CDD505-2E9C-101B-9397-08002B2CF9AE}" pid="3" name="KSOProductBuildVer">
    <vt:lpwstr>1033-12.2.0.13306</vt:lpwstr>
  </property>
</Properties>
</file>